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3826"/>
    <a:srgbClr val="AC582A"/>
    <a:srgbClr val="B58640"/>
    <a:srgbClr val="39565E"/>
    <a:srgbClr val="775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D5757-3553-4590-2DA8-5E279DA8A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CBFE8C0-6737-61F3-7A0C-CFC45D659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32A8D9F-D062-E823-DA7E-E3E825884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2D7-3470-41DC-9BD2-0D9EBBCF77A5}" type="datetimeFigureOut">
              <a:rPr lang="uk-UA" smtClean="0"/>
              <a:t>25.09.2025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E721764-B5AA-149E-AAC7-A9338E9A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40A4EA0-5439-3ED5-EC9A-6B7813BF1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ABB1-EC57-4814-8745-46500C3D2D6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18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4722D-BB09-C151-7884-90F824F8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7391FC6-C109-60BC-2EE8-6EEFF9BF3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7105155-1420-E786-5412-7319E929A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2D7-3470-41DC-9BD2-0D9EBBCF77A5}" type="datetimeFigureOut">
              <a:rPr lang="uk-UA" smtClean="0"/>
              <a:t>25.09.2025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976448D-31CC-07B5-B34C-BDAE7DB20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0046376-3A61-F757-01F7-E5DFC443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ABB1-EC57-4814-8745-46500C3D2D6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8676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9EB0D-D54B-30F7-5DD6-DA42F742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F139507-2F25-D1A0-04CB-91D352BD6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FF58D65-F83B-B03A-CB2C-4BC10B5DC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2D7-3470-41DC-9BD2-0D9EBBCF77A5}" type="datetimeFigureOut">
              <a:rPr lang="uk-UA" smtClean="0"/>
              <a:t>25.09.2025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4C133E5-4384-AB8F-95B8-E85BDAF49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B91E274-1BDA-77CD-F2F7-1B24E2BCD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ABB1-EC57-4814-8745-46500C3D2D6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876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CED91-EF88-F298-965A-B30D6742C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1F05D97-52F3-A251-E242-1DD25947A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4BF6840-8E66-463F-BA26-07B84BD7B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82072EB-F14E-C9B9-F6B4-F885B8E9D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2D7-3470-41DC-9BD2-0D9EBBCF77A5}" type="datetimeFigureOut">
              <a:rPr lang="uk-UA" smtClean="0"/>
              <a:t>25.09.2025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E7AFEE1-FE25-18C4-EC91-6BB85BC2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7AF92DC-E41E-1A5C-E243-0468931D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ABB1-EC57-4814-8745-46500C3D2D6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6978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2C648-B7B1-5DBE-7068-CF178DFD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AAF2A83-A820-106B-A295-EEA436CC9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2E8809C-C357-C1BF-9582-DDA5E7E81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A0A276D-7335-7B9A-1E50-42F322312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18B8AF7F-55F7-C188-09B3-E9A620B19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EF53AA0-F353-BC39-F246-99D19737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2D7-3470-41DC-9BD2-0D9EBBCF77A5}" type="datetimeFigureOut">
              <a:rPr lang="uk-UA" smtClean="0"/>
              <a:t>25.09.2025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674F21D3-23B0-3318-D1FC-9394FA4F2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A38B9CCC-0B62-3D32-632A-A05AAEB8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ABB1-EC57-4814-8745-46500C3D2D6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377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E82D1-2307-8854-AD5C-EDD6F17A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11A21EE5-861C-0978-BC4D-56479F07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2D7-3470-41DC-9BD2-0D9EBBCF77A5}" type="datetimeFigureOut">
              <a:rPr lang="uk-UA" smtClean="0"/>
              <a:t>25.09.2025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1A5A2E23-5813-6FA2-D065-4CD17F14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21271A8-529C-5E1C-C5F5-DC88CD2CB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ABB1-EC57-4814-8745-46500C3D2D6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88929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7D49F66-90C4-BA39-14AC-987C3742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2D7-3470-41DC-9BD2-0D9EBBCF77A5}" type="datetimeFigureOut">
              <a:rPr lang="uk-UA" smtClean="0"/>
              <a:t>25.09.2025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BACACD3-DA68-0541-BAEF-DEBCAB7C4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A6BE22D-6F85-EDE6-7BAC-4E79D451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ABB1-EC57-4814-8745-46500C3D2D6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8900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3306B-E118-FA2D-0E7F-C5DB873C7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4066A88-2157-10F3-3AA4-F7860B057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286F488-4541-ADDD-FAC7-24D35FDF6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FB9E62A-BACF-88FE-1662-837DBA76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2D7-3470-41DC-9BD2-0D9EBBCF77A5}" type="datetimeFigureOut">
              <a:rPr lang="uk-UA" smtClean="0"/>
              <a:t>25.09.2025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F0B145C-E6C4-4930-FA20-FEE9847E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A307C2D-B191-270F-9B14-0EAB9887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ABB1-EC57-4814-8745-46500C3D2D6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006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4EE9A-384D-26A4-34B7-585AA7E1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D1B0D12-179A-1370-E497-7AD2E9303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D75B3DF-7810-AFA2-7771-29870890C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22D43A1-55C8-2EC0-6227-534C5D963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2D7-3470-41DC-9BD2-0D9EBBCF77A5}" type="datetimeFigureOut">
              <a:rPr lang="uk-UA" smtClean="0"/>
              <a:t>25.09.2025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8A0A1AD-B568-A596-EABB-264BCDFF6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EE35CAC-1A04-13EE-1433-536B3C75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ABB1-EC57-4814-8745-46500C3D2D6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4C319-5CCD-8701-1BDD-3A527812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08F3593-0710-0A2A-6039-ED9F9DA41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8DFD201-70B6-1207-EA61-F74929AC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2D7-3470-41DC-9BD2-0D9EBBCF77A5}" type="datetimeFigureOut">
              <a:rPr lang="uk-UA" smtClean="0"/>
              <a:t>25.09.2025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5DC3BC1-F655-D39E-1318-2C5877CEE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4C0D3D9-C507-A76E-5C34-15CE5FF8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ABB1-EC57-4814-8745-46500C3D2D6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9070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8C5CECD-34B8-9655-B9A7-63611AC75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6AA362A-8AAC-05C5-6F1F-15517D69E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1091902-5EEA-ABA9-EB62-9086E5798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A2D7-3470-41DC-9BD2-0D9EBBCF77A5}" type="datetimeFigureOut">
              <a:rPr lang="uk-UA" smtClean="0"/>
              <a:t>25.09.2025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7D9046A-EA9F-DF3B-11B2-A36853057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DAA2C3A-0238-CB37-9F1D-BC21F98E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ABB1-EC57-4814-8745-46500C3D2D6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0765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77B2004-3DA9-CDB9-CD9F-E098D754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79FD6D6-BE38-702A-6021-0C2980BBB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E6EAEA2-D2A4-BB98-041F-6C8B69913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FA2D7-3470-41DC-9BD2-0D9EBBCF77A5}" type="datetimeFigureOut">
              <a:rPr lang="uk-UA" smtClean="0"/>
              <a:t>25.09.2025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90D2ABC-2747-5629-0155-B4FFB36C3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E561693-3CCB-FABE-FBDC-B8426C5B0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CABB1-EC57-4814-8745-46500C3D2D6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5969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ED1D6-D18E-E2EA-A6F4-FFFD0B523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B1E413-28DA-6DD4-017B-3EFD4DEE6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49CC4D2-AC38-3C3B-6D74-90F88B8C5B27}"/>
              </a:ext>
            </a:extLst>
          </p:cNvPr>
          <p:cNvSpPr txBox="1">
            <a:spLocks/>
          </p:cNvSpPr>
          <p:nvPr/>
        </p:nvSpPr>
        <p:spPr>
          <a:xfrm>
            <a:off x="2905432" y="333774"/>
            <a:ext cx="6381136" cy="61012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4000" b="1" spc="600" dirty="0"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КУЛЬТУРА АНТИЧНОСТІ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892BA-DB94-39B6-44F8-0DD01384F814}"/>
              </a:ext>
            </a:extLst>
          </p:cNvPr>
          <p:cNvSpPr txBox="1"/>
          <p:nvPr/>
        </p:nvSpPr>
        <p:spPr>
          <a:xfrm>
            <a:off x="307487" y="1950561"/>
            <a:ext cx="275463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1900" b="1" spc="300" dirty="0">
                <a:solidFill>
                  <a:srgbClr val="39565E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АРХАЇЧНА ГРЕЦІЯ</a:t>
            </a:r>
          </a:p>
          <a:p>
            <a:endParaRPr lang="uk-UA" sz="1900" b="1" spc="300" dirty="0">
              <a:solidFill>
                <a:srgbClr val="39565E"/>
              </a:solidFill>
              <a:latin typeface="Gabriola" panose="04040605051002020D02" pitchFamily="82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E43190-1344-E004-4DE4-CCCFDEBA6B60}"/>
              </a:ext>
            </a:extLst>
          </p:cNvPr>
          <p:cNvSpPr txBox="1"/>
          <p:nvPr/>
        </p:nvSpPr>
        <p:spPr>
          <a:xfrm>
            <a:off x="503707" y="2177534"/>
            <a:ext cx="2370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spc="300" dirty="0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VIII–VI ст. до </a:t>
            </a:r>
            <a:r>
              <a:rPr lang="ru-RU" sz="2000" b="1" spc="300" dirty="0" err="1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н.е</a:t>
            </a:r>
            <a:r>
              <a:rPr lang="ru-RU" sz="2000" b="1" spc="300" dirty="0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endParaRPr lang="uk-UA" sz="2000" b="1" spc="300" dirty="0">
              <a:solidFill>
                <a:srgbClr val="775017"/>
              </a:solidFill>
              <a:latin typeface="Gabriola" panose="04040605051002020D02" pitchFamily="82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4A2B7-A91F-7B18-05B4-C376F288B268}"/>
              </a:ext>
            </a:extLst>
          </p:cNvPr>
          <p:cNvSpPr txBox="1"/>
          <p:nvPr/>
        </p:nvSpPr>
        <p:spPr>
          <a:xfrm>
            <a:off x="3162730" y="1960107"/>
            <a:ext cx="282345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1900" b="1" spc="300" dirty="0">
                <a:solidFill>
                  <a:srgbClr val="B58640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КЛАСИЧА ГРЕЦІЯ</a:t>
            </a:r>
          </a:p>
          <a:p>
            <a:endParaRPr lang="uk-UA" sz="1900" b="1" spc="300" dirty="0">
              <a:solidFill>
                <a:srgbClr val="39565E"/>
              </a:solidFill>
              <a:latin typeface="Gabriola" panose="04040605051002020D02" pitchFamily="82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DF3701-6B3F-72D3-EDEF-0B8B06152504}"/>
              </a:ext>
            </a:extLst>
          </p:cNvPr>
          <p:cNvSpPr txBox="1"/>
          <p:nvPr/>
        </p:nvSpPr>
        <p:spPr>
          <a:xfrm>
            <a:off x="3403007" y="2177534"/>
            <a:ext cx="2370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spc="300" dirty="0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V–IV </a:t>
            </a:r>
            <a:r>
              <a:rPr lang="ru-RU" sz="2000" b="1" spc="300" dirty="0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ст. до </a:t>
            </a:r>
            <a:r>
              <a:rPr lang="ru-RU" sz="2000" b="1" spc="300" dirty="0" err="1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н.е</a:t>
            </a:r>
            <a:r>
              <a:rPr lang="ru-RU" sz="2000" b="1" spc="300" dirty="0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endParaRPr lang="uk-UA" sz="2000" b="1" spc="300" dirty="0">
              <a:solidFill>
                <a:srgbClr val="775017"/>
              </a:solidFill>
              <a:latin typeface="Gabriola" panose="04040605051002020D02" pitchFamily="82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C5D823-30B3-3E36-46DE-4BC77A7F63D6}"/>
              </a:ext>
            </a:extLst>
          </p:cNvPr>
          <p:cNvSpPr txBox="1"/>
          <p:nvPr/>
        </p:nvSpPr>
        <p:spPr>
          <a:xfrm>
            <a:off x="5761535" y="1960107"/>
            <a:ext cx="3364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b="1" spc="300" dirty="0">
                <a:solidFill>
                  <a:srgbClr val="AC582A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ЕЛЛІНІСТИЧНИЙ</a:t>
            </a:r>
            <a:r>
              <a:rPr lang="uk-UA" b="1" dirty="0">
                <a:solidFill>
                  <a:srgbClr val="AC582A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uk-UA" b="1" spc="300" dirty="0">
                <a:solidFill>
                  <a:srgbClr val="AC582A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ПЕРІОД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6D927-E870-577C-624E-6E4A6FFB76BD}"/>
              </a:ext>
            </a:extLst>
          </p:cNvPr>
          <p:cNvSpPr txBox="1"/>
          <p:nvPr/>
        </p:nvSpPr>
        <p:spPr>
          <a:xfrm>
            <a:off x="6288104" y="2177534"/>
            <a:ext cx="2370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spc="300" dirty="0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IV–I</a:t>
            </a:r>
            <a:r>
              <a:rPr lang="uk-UA" sz="2000" b="1" spc="300" dirty="0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sz="2000" b="1" spc="300" dirty="0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ст. до </a:t>
            </a:r>
            <a:r>
              <a:rPr lang="ru-RU" sz="2000" b="1" spc="300" dirty="0" err="1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н.е</a:t>
            </a:r>
            <a:r>
              <a:rPr lang="ru-RU" sz="2000" b="1" spc="300" dirty="0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endParaRPr lang="uk-UA" sz="2000" b="1" spc="300" dirty="0">
              <a:solidFill>
                <a:srgbClr val="775017"/>
              </a:solidFill>
              <a:latin typeface="Gabriola" panose="04040605051002020D02" pitchFamily="82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15C561-AAA9-A566-27DC-AC9CF8A70630}"/>
              </a:ext>
            </a:extLst>
          </p:cNvPr>
          <p:cNvSpPr txBox="1"/>
          <p:nvPr/>
        </p:nvSpPr>
        <p:spPr>
          <a:xfrm>
            <a:off x="9125766" y="1950561"/>
            <a:ext cx="2754631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1900" b="1" spc="300" dirty="0">
                <a:solidFill>
                  <a:srgbClr val="943826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СТАРОДАВНІЙ РИМ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8FCD8-902A-3A89-8793-D9874C5211C2}"/>
              </a:ext>
            </a:extLst>
          </p:cNvPr>
          <p:cNvSpPr txBox="1"/>
          <p:nvPr/>
        </p:nvSpPr>
        <p:spPr>
          <a:xfrm>
            <a:off x="8910258" y="2177534"/>
            <a:ext cx="32129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spc="300" dirty="0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I ст. до </a:t>
            </a:r>
            <a:r>
              <a:rPr lang="ru-RU" sz="2000" b="1" spc="300" dirty="0" err="1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н.е</a:t>
            </a:r>
            <a:r>
              <a:rPr lang="ru-RU" sz="2000" b="1" spc="300" dirty="0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. – V ст. </a:t>
            </a:r>
            <a:r>
              <a:rPr lang="ru-RU" sz="2000" b="1" spc="300" dirty="0" err="1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н.е</a:t>
            </a:r>
            <a:r>
              <a:rPr lang="ru-RU" sz="2000" b="1" spc="300" dirty="0">
                <a:solidFill>
                  <a:srgbClr val="775017"/>
                </a:solidFill>
                <a:latin typeface="Gabriola" panose="04040605051002020D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endParaRPr lang="uk-UA" sz="2000" b="1" spc="300" dirty="0">
              <a:solidFill>
                <a:srgbClr val="775017"/>
              </a:solidFill>
              <a:latin typeface="Gabriola" panose="04040605051002020D02" pitchFamily="82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0FCAD8-B6AF-83EC-25F9-1E221AFC85B2}"/>
              </a:ext>
            </a:extLst>
          </p:cNvPr>
          <p:cNvSpPr txBox="1"/>
          <p:nvPr/>
        </p:nvSpPr>
        <p:spPr>
          <a:xfrm>
            <a:off x="113446" y="2795071"/>
            <a:ext cx="29486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100" dirty="0">
                <a:solidFill>
                  <a:srgbClr val="39565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Формування міст-полісів: Афіни, Спарта</a:t>
            </a:r>
            <a:br>
              <a:rPr lang="uk-UA" sz="1100" dirty="0">
                <a:solidFill>
                  <a:srgbClr val="39565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uk-UA" sz="1100" dirty="0">
                <a:solidFill>
                  <a:srgbClr val="39565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Поява алфавіту та перших поетичних епосів</a:t>
            </a:r>
            <a:br>
              <a:rPr lang="uk-UA" sz="1100" dirty="0">
                <a:solidFill>
                  <a:srgbClr val="39565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uk-UA" sz="1100" dirty="0">
                <a:solidFill>
                  <a:srgbClr val="39565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Зародження Олімпійських ігор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AD5D75-BB28-47A3-C2FB-F17909F3BC3E}"/>
              </a:ext>
            </a:extLst>
          </p:cNvPr>
          <p:cNvSpPr txBox="1"/>
          <p:nvPr/>
        </p:nvSpPr>
        <p:spPr>
          <a:xfrm>
            <a:off x="3204051" y="2795071"/>
            <a:ext cx="26937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000" dirty="0">
                <a:solidFill>
                  <a:srgbClr val="B58640"/>
                </a:solidFill>
              </a:rPr>
              <a:t>– Розквіт демократії в Афінах</a:t>
            </a:r>
            <a:br>
              <a:rPr lang="uk-UA" sz="1000" dirty="0">
                <a:solidFill>
                  <a:srgbClr val="B58640"/>
                </a:solidFill>
              </a:rPr>
            </a:br>
            <a:r>
              <a:rPr lang="uk-UA" sz="1000" dirty="0">
                <a:solidFill>
                  <a:srgbClr val="B58640"/>
                </a:solidFill>
              </a:rPr>
              <a:t>– Філософія Сократа, Платона, </a:t>
            </a:r>
            <a:r>
              <a:rPr lang="uk-UA" sz="1000" dirty="0" err="1">
                <a:solidFill>
                  <a:srgbClr val="B58640"/>
                </a:solidFill>
              </a:rPr>
              <a:t>Арістотеля</a:t>
            </a:r>
            <a:br>
              <a:rPr lang="uk-UA" sz="1000" dirty="0">
                <a:solidFill>
                  <a:srgbClr val="B58640"/>
                </a:solidFill>
              </a:rPr>
            </a:br>
            <a:r>
              <a:rPr lang="uk-UA" sz="1000" dirty="0">
                <a:solidFill>
                  <a:srgbClr val="B58640"/>
                </a:solidFill>
              </a:rPr>
              <a:t>– Великі трагедії Есхіла, Софокла, </a:t>
            </a:r>
            <a:r>
              <a:rPr lang="uk-UA" sz="1000" dirty="0" err="1">
                <a:solidFill>
                  <a:srgbClr val="B58640"/>
                </a:solidFill>
              </a:rPr>
              <a:t>Евріпіда</a:t>
            </a:r>
            <a:endParaRPr lang="uk-UA" sz="1000" dirty="0">
              <a:solidFill>
                <a:srgbClr val="B586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24DB1-748C-AA0D-B435-7079C8D709D5}"/>
              </a:ext>
            </a:extLst>
          </p:cNvPr>
          <p:cNvSpPr txBox="1"/>
          <p:nvPr/>
        </p:nvSpPr>
        <p:spPr>
          <a:xfrm>
            <a:off x="6096000" y="2795071"/>
            <a:ext cx="29486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rgbClr val="AC582A"/>
                </a:solidFill>
              </a:rPr>
              <a:t>– </a:t>
            </a:r>
            <a:r>
              <a:rPr lang="ru-RU" sz="1000" dirty="0" err="1">
                <a:solidFill>
                  <a:srgbClr val="AC582A"/>
                </a:solidFill>
              </a:rPr>
              <a:t>Завоювання</a:t>
            </a:r>
            <a:r>
              <a:rPr lang="ru-RU" sz="1000" dirty="0">
                <a:solidFill>
                  <a:srgbClr val="AC582A"/>
                </a:solidFill>
              </a:rPr>
              <a:t> Александра </a:t>
            </a:r>
            <a:r>
              <a:rPr lang="ru-RU" sz="1000" dirty="0" err="1">
                <a:solidFill>
                  <a:srgbClr val="AC582A"/>
                </a:solidFill>
              </a:rPr>
              <a:t>Македонського</a:t>
            </a:r>
            <a:br>
              <a:rPr lang="ru-RU" sz="1000" dirty="0">
                <a:solidFill>
                  <a:srgbClr val="AC582A"/>
                </a:solidFill>
              </a:rPr>
            </a:br>
            <a:r>
              <a:rPr lang="ru-RU" sz="1000" dirty="0">
                <a:solidFill>
                  <a:srgbClr val="AC582A"/>
                </a:solidFill>
              </a:rPr>
              <a:t>– </a:t>
            </a:r>
            <a:r>
              <a:rPr lang="ru-RU" sz="1000" dirty="0" err="1">
                <a:solidFill>
                  <a:srgbClr val="AC582A"/>
                </a:solidFill>
              </a:rPr>
              <a:t>Змішання</a:t>
            </a:r>
            <a:r>
              <a:rPr lang="ru-RU" sz="1000" dirty="0">
                <a:solidFill>
                  <a:srgbClr val="AC582A"/>
                </a:solidFill>
              </a:rPr>
              <a:t> </a:t>
            </a:r>
            <a:r>
              <a:rPr lang="ru-RU" sz="1000" dirty="0" err="1">
                <a:solidFill>
                  <a:srgbClr val="AC582A"/>
                </a:solidFill>
              </a:rPr>
              <a:t>грецьких</a:t>
            </a:r>
            <a:r>
              <a:rPr lang="ru-RU" sz="1000" dirty="0">
                <a:solidFill>
                  <a:srgbClr val="AC582A"/>
                </a:solidFill>
              </a:rPr>
              <a:t> і </a:t>
            </a:r>
            <a:r>
              <a:rPr lang="ru-RU" sz="1000" dirty="0" err="1">
                <a:solidFill>
                  <a:srgbClr val="AC582A"/>
                </a:solidFill>
              </a:rPr>
              <a:t>східних</a:t>
            </a:r>
            <a:r>
              <a:rPr lang="ru-RU" sz="1000" dirty="0">
                <a:solidFill>
                  <a:srgbClr val="AC582A"/>
                </a:solidFill>
              </a:rPr>
              <a:t> </a:t>
            </a:r>
            <a:r>
              <a:rPr lang="ru-RU" sz="1000" dirty="0" err="1">
                <a:solidFill>
                  <a:srgbClr val="AC582A"/>
                </a:solidFill>
              </a:rPr>
              <a:t>традицій</a:t>
            </a:r>
            <a:br>
              <a:rPr lang="ru-RU" sz="1000" dirty="0">
                <a:solidFill>
                  <a:srgbClr val="AC582A"/>
                </a:solidFill>
              </a:rPr>
            </a:br>
            <a:r>
              <a:rPr lang="ru-RU" sz="1000" dirty="0">
                <a:solidFill>
                  <a:srgbClr val="AC582A"/>
                </a:solidFill>
              </a:rPr>
              <a:t>– </a:t>
            </a:r>
            <a:r>
              <a:rPr lang="ru-RU" sz="1000" dirty="0" err="1">
                <a:solidFill>
                  <a:srgbClr val="AC582A"/>
                </a:solidFill>
              </a:rPr>
              <a:t>Наукові</a:t>
            </a:r>
            <a:r>
              <a:rPr lang="ru-RU" sz="1000" dirty="0">
                <a:solidFill>
                  <a:srgbClr val="AC582A"/>
                </a:solidFill>
              </a:rPr>
              <a:t> </a:t>
            </a:r>
            <a:r>
              <a:rPr lang="ru-RU" sz="1000" dirty="0" err="1">
                <a:solidFill>
                  <a:srgbClr val="AC582A"/>
                </a:solidFill>
              </a:rPr>
              <a:t>школи</a:t>
            </a:r>
            <a:r>
              <a:rPr lang="ru-RU" sz="1000" dirty="0">
                <a:solidFill>
                  <a:srgbClr val="AC582A"/>
                </a:solidFill>
              </a:rPr>
              <a:t> </a:t>
            </a:r>
            <a:r>
              <a:rPr lang="ru-RU" sz="1000" dirty="0" err="1">
                <a:solidFill>
                  <a:srgbClr val="AC582A"/>
                </a:solidFill>
              </a:rPr>
              <a:t>Александрії</a:t>
            </a:r>
            <a:endParaRPr lang="uk-UA" sz="1000" dirty="0">
              <a:solidFill>
                <a:srgbClr val="AC582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FBB378-F664-8A33-31D9-23D2FA3BF93E}"/>
              </a:ext>
            </a:extLst>
          </p:cNvPr>
          <p:cNvSpPr txBox="1"/>
          <p:nvPr/>
        </p:nvSpPr>
        <p:spPr>
          <a:xfrm>
            <a:off x="8921944" y="2803532"/>
            <a:ext cx="34119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000" dirty="0">
                <a:solidFill>
                  <a:srgbClr val="943826"/>
                </a:solidFill>
              </a:rPr>
              <a:t>– Розбудова імперії та республіканського права</a:t>
            </a:r>
            <a:br>
              <a:rPr lang="uk-UA" sz="1000" dirty="0">
                <a:solidFill>
                  <a:srgbClr val="943826"/>
                </a:solidFill>
              </a:rPr>
            </a:br>
            <a:r>
              <a:rPr lang="uk-UA" sz="1000" dirty="0">
                <a:solidFill>
                  <a:srgbClr val="943826"/>
                </a:solidFill>
              </a:rPr>
              <a:t>– Грандіозні інженерні споруди й дороги</a:t>
            </a:r>
            <a:br>
              <a:rPr lang="uk-UA" sz="1000" dirty="0">
                <a:solidFill>
                  <a:srgbClr val="943826"/>
                </a:solidFill>
              </a:rPr>
            </a:br>
            <a:r>
              <a:rPr lang="uk-UA" sz="1000" dirty="0">
                <a:solidFill>
                  <a:srgbClr val="943826"/>
                </a:solidFill>
              </a:rPr>
              <a:t>– Література Вергілія, Овідія, Цицерона</a:t>
            </a:r>
            <a:endParaRPr lang="uk-UA" sz="1000" dirty="0">
              <a:solidFill>
                <a:srgbClr val="9438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C06C12-C3E1-D0BC-D1D5-368AD0C932A2}"/>
              </a:ext>
            </a:extLst>
          </p:cNvPr>
          <p:cNvSpPr txBox="1"/>
          <p:nvPr/>
        </p:nvSpPr>
        <p:spPr>
          <a:xfrm>
            <a:off x="3531023" y="6354596"/>
            <a:ext cx="620415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1" dirty="0" err="1"/>
              <a:t>Антична</a:t>
            </a:r>
            <a:r>
              <a:rPr lang="ru-RU" sz="1000" b="1" dirty="0"/>
              <a:t> культура заклала </a:t>
            </a:r>
            <a:r>
              <a:rPr lang="ru-RU" sz="1000" b="1" dirty="0" err="1"/>
              <a:t>основи</a:t>
            </a:r>
            <a:r>
              <a:rPr lang="ru-RU" sz="1000" b="1" dirty="0"/>
              <a:t> </a:t>
            </a:r>
            <a:r>
              <a:rPr lang="ru-RU" sz="1000" b="1" dirty="0" err="1"/>
              <a:t>європейської</a:t>
            </a:r>
            <a:r>
              <a:rPr lang="ru-RU" sz="1000" b="1" dirty="0"/>
              <a:t> науки, </a:t>
            </a:r>
            <a:r>
              <a:rPr lang="ru-RU" sz="1000" b="1" dirty="0" err="1"/>
              <a:t>мистецтва</a:t>
            </a:r>
            <a:r>
              <a:rPr lang="ru-RU" sz="1000" b="1" dirty="0"/>
              <a:t>, </a:t>
            </a:r>
            <a:r>
              <a:rPr lang="ru-RU" sz="1000" b="1" dirty="0" err="1"/>
              <a:t>політики</a:t>
            </a:r>
            <a:r>
              <a:rPr lang="ru-RU" sz="1000" b="1" dirty="0"/>
              <a:t> й права.</a:t>
            </a:r>
            <a:endParaRPr lang="uk-UA" sz="1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5AD114-6E06-C723-36A3-9C1BF17EB793}"/>
              </a:ext>
            </a:extLst>
          </p:cNvPr>
          <p:cNvSpPr txBox="1"/>
          <p:nvPr/>
        </p:nvSpPr>
        <p:spPr>
          <a:xfrm>
            <a:off x="1067295" y="4059134"/>
            <a:ext cx="2457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/>
              <a:t>Становлення полісів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038270-C357-88EF-616B-5F4485FA11BF}"/>
              </a:ext>
            </a:extLst>
          </p:cNvPr>
          <p:cNvSpPr txBox="1"/>
          <p:nvPr/>
        </p:nvSpPr>
        <p:spPr>
          <a:xfrm>
            <a:off x="1372953" y="4389522"/>
            <a:ext cx="1659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Поява</a:t>
            </a:r>
            <a:r>
              <a:rPr lang="ru-RU" sz="800" dirty="0"/>
              <a:t> </a:t>
            </a:r>
            <a:r>
              <a:rPr lang="ru-RU" sz="800" dirty="0" err="1"/>
              <a:t>Афін</a:t>
            </a:r>
            <a:r>
              <a:rPr lang="ru-RU" sz="800" dirty="0"/>
              <a:t>, </a:t>
            </a:r>
            <a:r>
              <a:rPr lang="ru-RU" sz="800" dirty="0" err="1"/>
              <a:t>Спарти</a:t>
            </a:r>
            <a:r>
              <a:rPr lang="ru-RU" sz="800" dirty="0"/>
              <a:t>, Коринфа; </a:t>
            </a:r>
            <a:r>
              <a:rPr lang="ru-RU" sz="800" dirty="0" err="1"/>
              <a:t>перші</a:t>
            </a:r>
            <a:r>
              <a:rPr lang="ru-RU" sz="800" dirty="0"/>
              <a:t> </a:t>
            </a:r>
            <a:r>
              <a:rPr lang="ru-RU" sz="800" dirty="0" err="1"/>
              <a:t>народні</a:t>
            </a:r>
            <a:r>
              <a:rPr lang="ru-RU" sz="800" dirty="0"/>
              <a:t> </a:t>
            </a:r>
            <a:r>
              <a:rPr lang="ru-RU" sz="800" dirty="0" err="1"/>
              <a:t>збори</a:t>
            </a:r>
            <a:r>
              <a:rPr lang="ru-RU" sz="800" dirty="0"/>
              <a:t>, </a:t>
            </a:r>
            <a:r>
              <a:rPr lang="ru-RU" sz="800" dirty="0" err="1"/>
              <a:t>формування</a:t>
            </a:r>
            <a:r>
              <a:rPr lang="ru-RU" sz="800" dirty="0"/>
              <a:t> </a:t>
            </a:r>
            <a:r>
              <a:rPr lang="ru-RU" sz="800" dirty="0" err="1"/>
              <a:t>громадянських</a:t>
            </a:r>
            <a:r>
              <a:rPr lang="ru-RU" sz="800" dirty="0"/>
              <a:t> прав, </a:t>
            </a:r>
            <a:r>
              <a:rPr lang="ru-RU" sz="800" dirty="0" err="1"/>
              <a:t>морська</a:t>
            </a:r>
            <a:r>
              <a:rPr lang="ru-RU" sz="800" dirty="0"/>
              <a:t> </a:t>
            </a:r>
            <a:r>
              <a:rPr lang="ru-RU" sz="800" dirty="0" err="1"/>
              <a:t>колонізація</a:t>
            </a:r>
            <a:r>
              <a:rPr lang="ru-RU" sz="800" dirty="0"/>
              <a:t>.</a:t>
            </a:r>
            <a:endParaRPr lang="uk-UA" sz="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5ACC46-CD58-0FB6-1B80-81F6D835495E}"/>
              </a:ext>
            </a:extLst>
          </p:cNvPr>
          <p:cNvSpPr txBox="1"/>
          <p:nvPr/>
        </p:nvSpPr>
        <p:spPr>
          <a:xfrm>
            <a:off x="1372953" y="5372715"/>
            <a:ext cx="1689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00" dirty="0" err="1"/>
              <a:t>Упровадження</a:t>
            </a:r>
            <a:r>
              <a:rPr lang="ru-RU" sz="700" dirty="0"/>
              <a:t> </a:t>
            </a:r>
            <a:r>
              <a:rPr lang="ru-RU" sz="700" dirty="0" err="1"/>
              <a:t>грецького</a:t>
            </a:r>
            <a:r>
              <a:rPr lang="ru-RU" sz="700" dirty="0"/>
              <a:t> </a:t>
            </a:r>
            <a:r>
              <a:rPr lang="ru-RU" sz="700" dirty="0" err="1"/>
              <a:t>алфавіту</a:t>
            </a:r>
            <a:r>
              <a:rPr lang="ru-RU" sz="700" dirty="0"/>
              <a:t>, </a:t>
            </a:r>
            <a:r>
              <a:rPr lang="ru-RU" sz="700" dirty="0" err="1"/>
              <a:t>поеми</a:t>
            </a:r>
            <a:r>
              <a:rPr lang="ru-RU" sz="700" dirty="0"/>
              <a:t> Гомера як основа </a:t>
            </a:r>
            <a:r>
              <a:rPr lang="ru-RU" sz="700" dirty="0" err="1"/>
              <a:t>освіти</a:t>
            </a:r>
            <a:r>
              <a:rPr lang="ru-RU" sz="700" dirty="0"/>
              <a:t>, </a:t>
            </a:r>
            <a:r>
              <a:rPr lang="ru-RU" sz="700" dirty="0" err="1"/>
              <a:t>геометричний</a:t>
            </a:r>
            <a:r>
              <a:rPr lang="ru-RU" sz="700" dirty="0"/>
              <a:t> стиль у </a:t>
            </a:r>
            <a:r>
              <a:rPr lang="ru-RU" sz="700" dirty="0" err="1"/>
              <a:t>вазописі</a:t>
            </a:r>
            <a:r>
              <a:rPr lang="ru-RU" sz="700" dirty="0"/>
              <a:t>, </a:t>
            </a:r>
            <a:r>
              <a:rPr lang="ru-RU" sz="700" dirty="0" err="1"/>
              <a:t>бронзові</a:t>
            </a:r>
            <a:r>
              <a:rPr lang="ru-RU" sz="700" dirty="0"/>
              <a:t> </a:t>
            </a:r>
            <a:r>
              <a:rPr lang="ru-RU" sz="700" dirty="0" err="1"/>
              <a:t>статуетки</a:t>
            </a:r>
            <a:r>
              <a:rPr lang="ru-RU" sz="700" dirty="0"/>
              <a:t>.</a:t>
            </a:r>
            <a:endParaRPr lang="uk-UA" sz="7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3FE7CA-2287-DBC8-C54C-F650A79FA1B5}"/>
              </a:ext>
            </a:extLst>
          </p:cNvPr>
          <p:cNvSpPr txBox="1"/>
          <p:nvPr/>
        </p:nvSpPr>
        <p:spPr>
          <a:xfrm>
            <a:off x="974158" y="5044630"/>
            <a:ext cx="22298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/>
              <a:t>Мова і раннє мистецтво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4CB052-A5CF-2707-E7D6-7CD6BA25319F}"/>
              </a:ext>
            </a:extLst>
          </p:cNvPr>
          <p:cNvSpPr txBox="1"/>
          <p:nvPr/>
        </p:nvSpPr>
        <p:spPr>
          <a:xfrm>
            <a:off x="4163665" y="4112332"/>
            <a:ext cx="2457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/>
              <a:t>Політика і філософія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B0D83C-955E-B675-1667-0E1BD7303F53}"/>
              </a:ext>
            </a:extLst>
          </p:cNvPr>
          <p:cNvSpPr txBox="1"/>
          <p:nvPr/>
        </p:nvSpPr>
        <p:spPr>
          <a:xfrm>
            <a:off x="4264341" y="4387218"/>
            <a:ext cx="16598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00" dirty="0" err="1"/>
              <a:t>Розквіт</a:t>
            </a:r>
            <a:r>
              <a:rPr lang="ru-RU" sz="700" dirty="0"/>
              <a:t> </a:t>
            </a:r>
            <a:r>
              <a:rPr lang="ru-RU" sz="700" dirty="0" err="1"/>
              <a:t>афінської</a:t>
            </a:r>
            <a:r>
              <a:rPr lang="ru-RU" sz="700" dirty="0"/>
              <a:t> </a:t>
            </a:r>
            <a:r>
              <a:rPr lang="ru-RU" sz="700" dirty="0" err="1"/>
              <a:t>демократії</a:t>
            </a:r>
            <a:r>
              <a:rPr lang="ru-RU" sz="700" dirty="0"/>
              <a:t>, перемоги у греко-</a:t>
            </a:r>
            <a:r>
              <a:rPr lang="ru-RU" sz="700" dirty="0" err="1"/>
              <a:t>перських</a:t>
            </a:r>
            <a:r>
              <a:rPr lang="ru-RU" sz="700" dirty="0"/>
              <a:t> </a:t>
            </a:r>
            <a:r>
              <a:rPr lang="ru-RU" sz="700" dirty="0" err="1"/>
              <a:t>війнах</a:t>
            </a:r>
            <a:r>
              <a:rPr lang="ru-RU" sz="700" dirty="0"/>
              <a:t>, </a:t>
            </a:r>
            <a:r>
              <a:rPr lang="ru-RU" sz="700" dirty="0" err="1"/>
              <a:t>ідеї</a:t>
            </a:r>
            <a:r>
              <a:rPr lang="ru-RU" sz="700" dirty="0"/>
              <a:t> Сократа, Платона, </a:t>
            </a:r>
            <a:r>
              <a:rPr lang="ru-RU" sz="700" dirty="0" err="1"/>
              <a:t>Арістотеля</a:t>
            </a:r>
            <a:r>
              <a:rPr lang="ru-RU" sz="700" dirty="0"/>
              <a:t>, </a:t>
            </a:r>
            <a:r>
              <a:rPr lang="ru-RU" sz="700" dirty="0" err="1"/>
              <a:t>розвиток</a:t>
            </a:r>
            <a:r>
              <a:rPr lang="ru-RU" sz="700" dirty="0"/>
              <a:t> </a:t>
            </a:r>
            <a:r>
              <a:rPr lang="ru-RU" sz="700" dirty="0" err="1"/>
              <a:t>логіки</a:t>
            </a:r>
            <a:r>
              <a:rPr lang="ru-RU" sz="700" dirty="0"/>
              <a:t> й </a:t>
            </a:r>
            <a:r>
              <a:rPr lang="ru-RU" sz="700" dirty="0" err="1"/>
              <a:t>етики</a:t>
            </a:r>
            <a:r>
              <a:rPr lang="ru-RU" sz="700" dirty="0"/>
              <a:t>.</a:t>
            </a:r>
            <a:endParaRPr lang="uk-UA" sz="7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476484-F1A7-C899-E1F5-332BC6F3E630}"/>
              </a:ext>
            </a:extLst>
          </p:cNvPr>
          <p:cNvSpPr txBox="1"/>
          <p:nvPr/>
        </p:nvSpPr>
        <p:spPr>
          <a:xfrm>
            <a:off x="4249662" y="5358705"/>
            <a:ext cx="1689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800" dirty="0"/>
              <a:t>Будівництво Парфенона й інших шедеврів Акрополя, трагедії Софокла й </a:t>
            </a:r>
            <a:r>
              <a:rPr lang="uk-UA" sz="800" dirty="0" err="1"/>
              <a:t>Евріпіда</a:t>
            </a:r>
            <a:r>
              <a:rPr lang="uk-UA" sz="800" dirty="0"/>
              <a:t>, народження комедії </a:t>
            </a:r>
            <a:r>
              <a:rPr lang="uk-UA" sz="800" dirty="0" err="1"/>
              <a:t>Арістофана</a:t>
            </a:r>
            <a:r>
              <a:rPr lang="uk-UA" sz="800" dirty="0"/>
              <a:t>.</a:t>
            </a:r>
            <a:endParaRPr lang="uk-UA" sz="7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432B57-7010-3F27-F43A-66B5354BF4CB}"/>
              </a:ext>
            </a:extLst>
          </p:cNvPr>
          <p:cNvSpPr txBox="1"/>
          <p:nvPr/>
        </p:nvSpPr>
        <p:spPr>
          <a:xfrm>
            <a:off x="4178209" y="5064938"/>
            <a:ext cx="22298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/>
              <a:t>Архітектура та театр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64B560-D73E-E945-A442-0C3CB2ABD660}"/>
              </a:ext>
            </a:extLst>
          </p:cNvPr>
          <p:cNvSpPr txBox="1"/>
          <p:nvPr/>
        </p:nvSpPr>
        <p:spPr>
          <a:xfrm>
            <a:off x="9904623" y="4035475"/>
            <a:ext cx="2457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/>
              <a:t>Література та образи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D062D9-C999-C046-8201-4A6379E37F08}"/>
              </a:ext>
            </a:extLst>
          </p:cNvPr>
          <p:cNvSpPr txBox="1"/>
          <p:nvPr/>
        </p:nvSpPr>
        <p:spPr>
          <a:xfrm>
            <a:off x="10281382" y="4420109"/>
            <a:ext cx="165980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900" dirty="0"/>
              <a:t>Епічні твори Вергілія, «Метаморфози» Овідія, історичні праці Тацита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D90108-C451-5730-3E7B-7952A1F86777}"/>
              </a:ext>
            </a:extLst>
          </p:cNvPr>
          <p:cNvSpPr txBox="1"/>
          <p:nvPr/>
        </p:nvSpPr>
        <p:spPr>
          <a:xfrm>
            <a:off x="10252025" y="5181121"/>
            <a:ext cx="16891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 err="1"/>
              <a:t>Реалістичний</a:t>
            </a:r>
            <a:r>
              <a:rPr lang="ru-RU" sz="1000" dirty="0"/>
              <a:t> портрет у </a:t>
            </a:r>
            <a:r>
              <a:rPr lang="ru-RU" sz="1000" dirty="0" err="1"/>
              <a:t>скульптурі</a:t>
            </a:r>
            <a:r>
              <a:rPr lang="ru-RU" sz="1000" dirty="0"/>
              <a:t> та </a:t>
            </a:r>
            <a:r>
              <a:rPr lang="ru-RU" sz="1000" dirty="0" err="1"/>
              <a:t>мозаїках</a:t>
            </a:r>
            <a:r>
              <a:rPr lang="ru-RU" sz="1000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9D5777-2C1E-F3D1-A2BC-DFA83863B500}"/>
              </a:ext>
            </a:extLst>
          </p:cNvPr>
          <p:cNvSpPr txBox="1"/>
          <p:nvPr/>
        </p:nvSpPr>
        <p:spPr>
          <a:xfrm>
            <a:off x="6919869" y="4074676"/>
            <a:ext cx="2457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/>
              <a:t>Наука і відкриття</a:t>
            </a:r>
            <a:endParaRPr lang="uk-UA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F041C5-6DF0-5B2E-7923-C86AC29EFBC1}"/>
              </a:ext>
            </a:extLst>
          </p:cNvPr>
          <p:cNvSpPr txBox="1"/>
          <p:nvPr/>
        </p:nvSpPr>
        <p:spPr>
          <a:xfrm>
            <a:off x="7318893" y="4365863"/>
            <a:ext cx="1659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/>
              <a:t>Математика </a:t>
            </a:r>
            <a:r>
              <a:rPr lang="ru-RU" sz="800" dirty="0" err="1"/>
              <a:t>Евкліда</a:t>
            </a:r>
            <a:r>
              <a:rPr lang="ru-RU" sz="800" dirty="0"/>
              <a:t>, </a:t>
            </a:r>
            <a:r>
              <a:rPr lang="ru-RU" sz="800" dirty="0" err="1"/>
              <a:t>механіка</a:t>
            </a:r>
            <a:r>
              <a:rPr lang="ru-RU" sz="800" dirty="0"/>
              <a:t> </a:t>
            </a:r>
            <a:r>
              <a:rPr lang="ru-RU" sz="800" dirty="0" err="1"/>
              <a:t>Архімеда</a:t>
            </a:r>
            <a:r>
              <a:rPr lang="ru-RU" sz="800" dirty="0"/>
              <a:t>, </a:t>
            </a:r>
            <a:r>
              <a:rPr lang="ru-RU" sz="800" dirty="0" err="1"/>
              <a:t>перші</a:t>
            </a:r>
            <a:r>
              <a:rPr lang="ru-RU" sz="800" dirty="0"/>
              <a:t> каталоги </a:t>
            </a:r>
            <a:r>
              <a:rPr lang="ru-RU" sz="800" dirty="0" err="1"/>
              <a:t>зоології</a:t>
            </a:r>
            <a:r>
              <a:rPr lang="ru-RU" sz="800" dirty="0"/>
              <a:t> й </a:t>
            </a:r>
            <a:r>
              <a:rPr lang="ru-RU" sz="800" dirty="0" err="1"/>
              <a:t>ботаніки</a:t>
            </a:r>
            <a:r>
              <a:rPr lang="ru-RU" sz="800" dirty="0"/>
              <a:t>, </a:t>
            </a:r>
            <a:r>
              <a:rPr lang="ru-RU" sz="800" dirty="0" err="1"/>
              <a:t>розвиток</a:t>
            </a:r>
            <a:r>
              <a:rPr lang="ru-RU" sz="800" dirty="0"/>
              <a:t> </a:t>
            </a:r>
            <a:r>
              <a:rPr lang="ru-RU" sz="800" dirty="0" err="1"/>
              <a:t>астрономічних</a:t>
            </a:r>
            <a:r>
              <a:rPr lang="ru-RU" sz="800" dirty="0"/>
              <a:t> </a:t>
            </a:r>
            <a:r>
              <a:rPr lang="ru-RU" sz="800" dirty="0" err="1"/>
              <a:t>спостережень</a:t>
            </a:r>
            <a:r>
              <a:rPr lang="ru-RU" sz="800" dirty="0"/>
              <a:t>.</a:t>
            </a:r>
            <a:endParaRPr lang="uk-UA" sz="7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9A4351-4089-64C3-DA29-F26A19B8B37C}"/>
              </a:ext>
            </a:extLst>
          </p:cNvPr>
          <p:cNvSpPr txBox="1"/>
          <p:nvPr/>
        </p:nvSpPr>
        <p:spPr>
          <a:xfrm>
            <a:off x="6828713" y="5044630"/>
            <a:ext cx="2457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/>
              <a:t>Скульптура </a:t>
            </a:r>
          </a:p>
        </p:txBody>
      </p:sp>
      <p:sp>
        <p:nvSpPr>
          <p:cNvPr id="56" name="Rectangle 1">
            <a:extLst>
              <a:ext uri="{FF2B5EF4-FFF2-40B4-BE49-F238E27FC236}">
                <a16:creationId xmlns:a16="http://schemas.microsoft.com/office/drawing/2014/main" id="{5AD7FC02-579B-E500-1C01-24984D7B3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446" y="6300735"/>
            <a:ext cx="2229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uk-UA" sz="1400" dirty="0">
                <a:solidFill>
                  <a:schemeClr val="bg1"/>
                </a:solidFill>
              </a:rPr>
              <a:t>Краса — шлях до істини.</a:t>
            </a: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282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710635F-4E50-D80C-40FE-1BF670485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DDB94C-AC8B-DFA4-7F0A-19333FFFC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079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281</Words>
  <Application>Microsoft Office PowerPoint</Application>
  <PresentationFormat>Широкий екран</PresentationFormat>
  <Paragraphs>29</Paragraphs>
  <Slides>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Gabriola</vt:lpstr>
      <vt:lpstr>Тема Office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15</cp:revision>
  <dcterms:created xsi:type="dcterms:W3CDTF">2025-09-25T11:21:49Z</dcterms:created>
  <dcterms:modified xsi:type="dcterms:W3CDTF">2025-09-25T12:34:29Z</dcterms:modified>
</cp:coreProperties>
</file>